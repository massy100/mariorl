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 máxima alcanzada</c:v>
                </c:pt>
              </c:strCache>
            </c:strRef>
          </c:tx>
          <c:spPr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Ep 10</c:v>
                </c:pt>
                <c:pt idx="1">
                  <c:v>Ep 20</c:v>
                </c:pt>
                <c:pt idx="2">
                  <c:v>Ep 30</c:v>
                </c:pt>
                <c:pt idx="3">
                  <c:v>Ep 50</c:v>
                </c:pt>
                <c:pt idx="4">
                  <c:v>Ep 70</c:v>
                </c:pt>
                <c:pt idx="5">
                  <c:v>Ep 90</c:v>
                </c:pt>
                <c:pt idx="6">
                  <c:v>Ep 110</c:v>
                </c:pt>
                <c:pt idx="7">
                  <c:v>Ep 130</c:v>
                </c:pt>
                <c:pt idx="8">
                  <c:v>Ep 150</c:v>
                </c:pt>
                <c:pt idx="9">
                  <c:v>Ep 200</c:v>
                </c:pt>
                <c:pt idx="10">
                  <c:v>Ep 230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843</c:v>
                </c:pt>
                <c:pt idx="1">
                  <c:v>1943</c:v>
                </c:pt>
                <c:pt idx="2">
                  <c:v>3018</c:v>
                </c:pt>
                <c:pt idx="3">
                  <c:v>4748</c:v>
                </c:pt>
                <c:pt idx="4">
                  <c:v>5230</c:v>
                </c:pt>
                <c:pt idx="5">
                  <c:v>6617</c:v>
                </c:pt>
                <c:pt idx="6">
                  <c:v>6617</c:v>
                </c:pt>
                <c:pt idx="7">
                  <c:v>6617</c:v>
                </c:pt>
                <c:pt idx="8">
                  <c:v>6617</c:v>
                </c:pt>
                <c:pt idx="9">
                  <c:v>6617</c:v>
                </c:pt>
                <c:pt idx="10">
                  <c:v>6617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3D1-43F5-B585-25CC04958D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1E3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13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9307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8686800" cy="109728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201168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74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INTELIGENCIA ARTIFICIAL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Mario IA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por Refuerzo aplicado a videojuegos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Final — IA  </a:t>
            </a:r>
            <a:r>
              <a:rPr lang="en-US" sz="1300" dirty="0">
                <a:solidFill>
                  <a:srgbClr val="1E1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r>
              <a:rPr lang="en-US" sz="1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· Pygame · Gymnasium · PPO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09728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¿Cuál es el problema?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¿Puede una IA aprender a jugar Mario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nadie le enseñe?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2606040" cy="201168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432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Mario Level 1 en Python con Pygame — el agente juega miles de veces solo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2651760"/>
            <a:ext cx="2606040" cy="201168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743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429000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neuronal que aprende de sus errores sin datos previos ni ejemplos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2651760"/>
            <a:ext cx="2606040" cy="201168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7432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meta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263640" y="3291840"/>
            <a:ext cx="233172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Llegar a la bandera lo más rápido posible, superando Goombas y obstáculos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1281" y="283575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¿Qué es Reinforcement Learning?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aprende solo — igual que un niño que aprende a jugar sin instrucciones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1281" y="2560320"/>
            <a:ext cx="2011680" cy="914400"/>
          </a:xfrm>
          <a:prstGeom prst="rect">
            <a:avLst/>
          </a:prstGeom>
          <a:solidFill>
            <a:srgbClr val="06B6D4">
              <a:alpha val="18000"/>
            </a:srgbClr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ENTORNO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Juego pygame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66160" y="1929273"/>
            <a:ext cx="2011680" cy="914400"/>
          </a:xfrm>
          <a:prstGeom prst="rect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965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2359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vel, enemigos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583680" y="2606040"/>
            <a:ext cx="2011680" cy="914400"/>
          </a:xfrm>
          <a:prstGeom prst="rect">
            <a:avLst/>
          </a:prstGeom>
          <a:solidFill>
            <a:srgbClr val="7C3AED">
              <a:alpha val="18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0" y="3044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PPO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566160" y="3794760"/>
            <a:ext cx="2011680" cy="914400"/>
          </a:xfrm>
          <a:prstGeom prst="rect">
            <a:avLst/>
          </a:prstGeom>
          <a:solidFill>
            <a:srgbClr val="F59E0B">
              <a:alpha val="18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4233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saltar / correr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898648"/>
            <a:ext cx="2011680" cy="731520"/>
          </a:xfrm>
          <a:prstGeom prst="rect">
            <a:avLst/>
          </a:prstGeom>
          <a:solidFill>
            <a:srgbClr val="10B981">
              <a:alpha val="18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56616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+avance  -muerte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V="1">
            <a:off x="2560320" y="2423160"/>
            <a:ext cx="1005840" cy="65151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5577840" y="2377440"/>
            <a:ext cx="1005840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2560320" y="3102103"/>
            <a:ext cx="1005840" cy="1149858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566160" y="42519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5577840" y="3264408"/>
            <a:ext cx="10058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7CAB9C5C-6190-4646-8509-800E54252624}"/>
              </a:ext>
            </a:extLst>
          </p:cNvPr>
          <p:cNvSpPr/>
          <p:nvPr/>
        </p:nvSpPr>
        <p:spPr>
          <a:xfrm flipV="1">
            <a:off x="5577840" y="3502151"/>
            <a:ext cx="1005840" cy="786274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2813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¿PPO o DQN?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Probamos DQN primero — y falló. Aquí está el por qué.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840480" cy="3108960"/>
          </a:xfrm>
          <a:prstGeom prst="rect">
            <a:avLst/>
          </a:prstGeom>
          <a:solidFill>
            <a:srgbClr val="1A0A0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DQN  ✗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explorar hasta la meta para aprender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recompensa dispersa, nunca encuentra el +500 de la bandera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 de steps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de replay lenta para juegos de plataformas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3108960"/>
          </a:xfrm>
          <a:prstGeom prst="rect">
            <a:avLst/>
          </a:prstGeom>
          <a:solidFill>
            <a:srgbClr val="0A1A0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691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PPO  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2286000"/>
            <a:ext cx="3474720" cy="2103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de cada frame inmediatamente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con recompensas densas (avance por pixel)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s-E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500k </a:t>
            </a:r>
            <a:r>
              <a:rPr lang="es-E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r>
              <a:rPr lang="es-E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Mario gana la partida</a:t>
            </a:r>
          </a:p>
          <a:p>
            <a:pPr marL="342900" indent="-342900">
              <a:buSzPct val="100000"/>
              <a:buChar char="•"/>
            </a:pP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Estándar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investigación de juegos con RL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537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tecnológico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juego — Mario Level 1 corriendo en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gymnasium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Envuelve el juego como entorno de RL estándar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00400"/>
            <a:ext cx="54864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stable-baselines3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PPO — el cerebro del agente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71600"/>
            <a:ext cx="54864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PyTorch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7556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 que toma decisiones frame a frame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286000"/>
            <a:ext cx="54864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331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mario_env.py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2670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archivo puente — conecta el juego con la IA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4023360" cy="7315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200400"/>
            <a:ext cx="54864" cy="7315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2461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937760" y="35844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scores humano vs IA en tiempo real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pygame  →  mario_env.py  →  gymnasium  →  PPO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963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mario_env.py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OBSERVACIÓN (qué ve la IA)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Posición X/Y de Mario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horizontal y vertical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¿Está en el suelo?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enemigo más cercano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al obstáculo más cercano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8620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ACCIONES (qué puede hacer)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42900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Quieto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Caminar derecha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Correr derecha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Caminar + saltar alto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— Correr + saltar alto 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41732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720840" y="1417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RECOMPENSA (cómo aprende)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63640" y="1920240"/>
            <a:ext cx="237744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por pixel de avance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 bonus de supervivencia / frame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 si lleva &gt;30 frames bloqueado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 al morir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 al llegar a la bandera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6386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Bugs </a:t>
            </a:r>
            <a:r>
              <a:rPr lang="en-US" sz="3600" b="1" dirty="0" err="1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encontrados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bug fue una lección sobre cómo funciona realmente el RL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0" cy="100584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salto fantasma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Mario nunca saltaba alto — solo daba saltitos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600200"/>
            <a:ext cx="3657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mario.py suelta K_a → gravedad pesada. Implementamos jump_hold_remaining = 18 frames para mantener el botón presionado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10058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606040"/>
            <a:ext cx="640080" cy="10058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80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 invisibles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Los Goombas aparecían de la nada frente a Mario — la IA nunca los veía venir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Los enemigos solo existen en enemy_group al pisar un checkpoint. Solución: incluir check_point_group en la observación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749040"/>
            <a:ext cx="640080" cy="10058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23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88720" y="3794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Aprender a morir rápido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33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La IA aprendió que correr y morir en X=843 daba +67 de reward, mejor que arriesgarse a seguir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Recompensa densa: +0.1/frame de supervivencia hace que vivir siempre valga más que morir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062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Evolución del entrenamiento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457200" y="118872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188720"/>
            <a:ext cx="2377440" cy="7498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309360" y="12070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8510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309360" y="159105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máxima lograda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309360" y="2057400"/>
            <a:ext cx="2377440" cy="7498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075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309360" y="24597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Episodios hasta X&gt;6000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09360" y="2926080"/>
            <a:ext cx="2377440" cy="7498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2944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~60 min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309360" y="33284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entrenamiento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3794760"/>
            <a:ext cx="2377440" cy="749808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38130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500k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309360" y="419709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totales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3132A"/>
          </a:solidFill>
          <a:ln w="12700">
            <a:solidFill>
              <a:srgbClr val="13132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9" y="228245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39446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vivo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la IA — de morir ante el primer Goomba a llegar a X=8510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8229600" cy="7772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965960"/>
            <a:ext cx="457200" cy="7772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1488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05840" y="19842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mario_replay_all.py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05840" y="2377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todos los checkpoints en orden cronológico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8229600" cy="7772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926080"/>
            <a:ext cx="457200" cy="77724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005840" y="294436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mario_watch.py best_model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33375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jugar al mejor modelo entrenado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886200"/>
            <a:ext cx="457200" cy="77724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4069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05840" y="39044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play.py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005840" y="429768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¡Juega tú y compite contra la IA!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6896" y="24016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Leaderboard — Humano vs IA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6517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TIPO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TIEMPO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ESTADO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E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🥇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IA 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🤖 IA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8510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45.2s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✓ GANÓ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🥈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CAR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👤 HUM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82.1s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 X=6200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🥉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7C3AE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IA 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🤖 IA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4748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38.5s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 X=4748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6B6D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👤 HUM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3018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8FAF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61.0s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✗ X=3018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1E3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011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8FAFC"/>
                </a:solidFill>
                <a:latin typeface="Consolas" pitchFamily="34" charset="0"/>
              </a:rPr>
              <a:t>Conclusiones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82880"/>
            <a:ext cx="731520" cy="731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4023360" cy="128016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54864" cy="12801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Reward shaping es todo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de recompensa es la parte más difícil. Una recompensa mal diseñada y la IA aprende exactamente lo que NO queremos.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023360" cy="128016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880360"/>
            <a:ext cx="54864" cy="12801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algoritmo importa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DQN falló con 1 M steps. PPO resolvió el mismo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1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500k. El algoritmo correcto hace una diferencia enorme.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4023360" cy="128016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54864" cy="1280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 bugs son lecciones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937760" y="1874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bug del salto y los checkpoints invisibles nos obligaron a entender cómo funciona el juego por dentro. 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880360"/>
            <a:ext cx="4023360" cy="1280160"/>
          </a:xfrm>
          <a:prstGeom prst="rect">
            <a:avLst/>
          </a:prstGeom>
          <a:solidFill>
            <a:srgbClr val="13132A"/>
          </a:solidFill>
          <a:ln w="12700">
            <a:solidFill>
              <a:srgbClr val="1E1E3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88036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IA aprende como nosotros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937760" y="338328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comete los mismos errores que un principiante y mejora con la práctica. Ver esa evolución es lo más impresionante del proyecto.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7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2771241" y="225171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F8FAFC"/>
                </a:solidFill>
                <a:latin typeface="Consolas" pitchFamily="34" charset="0"/>
              </a:rPr>
              <a:t>Muchas</a:t>
            </a:r>
            <a:r>
              <a:rPr lang="en-US" sz="3600" b="1" dirty="0">
                <a:solidFill>
                  <a:srgbClr val="F8FAFC"/>
                </a:solidFill>
                <a:latin typeface="Consolas" pitchFamily="34" charset="0"/>
              </a:rPr>
              <a:t> Gracias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2700">
            <a:solidFill>
              <a:srgbClr val="1E1E3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803</Words>
  <Application>Microsoft Office PowerPoint</Application>
  <PresentationFormat>Presentación en pantalla (16:9)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Mario RL — Aprendizaje por Refuerzo</dc:title>
  <dc:subject>PptxGenJS Presentation</dc:subject>
  <dc:creator>PptxGenJS</dc:creator>
  <cp:lastModifiedBy>Ana Massielle Coti Rodas</cp:lastModifiedBy>
  <cp:revision>9</cp:revision>
  <dcterms:created xsi:type="dcterms:W3CDTF">2026-05-27T02:37:28Z</dcterms:created>
  <dcterms:modified xsi:type="dcterms:W3CDTF">2026-05-27T16:13:16Z</dcterms:modified>
</cp:coreProperties>
</file>